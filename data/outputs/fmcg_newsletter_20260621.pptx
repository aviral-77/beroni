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F4E79"/>
                </a:solidFill>
              </a:defRPr>
            </a:pPr>
            <a:r>
              <a:t>FMCG Deal Intelligence</a:t>
            </a:r>
          </a:p>
          <a:p>
            <a:pPr>
              <a:defRPr sz="1800" i="1">
                <a:solidFill>
                  <a:srgbClr val="666666"/>
                </a:solidFill>
              </a:defRPr>
            </a:pPr>
            <a:r>
              <a:t>M&amp;A &amp; investment digest · 21 Jun 2026 · last 14 days · 21 deals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t>This edition 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t>This edition tracks 21 FMCG deals reported over the last 14 days. Lead stories are ranked by relevance, credibility and recency.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•  21 relevant FMCG deals from 30 raw articles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•  5 duplicate reports merged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•  8 deals with a disclosed value</a:t>
            </a:r>
          </a:p>
          <a:p>
            <a:pPr>
              <a:defRPr sz="1400">
                <a:solidFill>
                  <a:srgbClr val="666666"/>
                </a:solidFill>
              </a:defRPr>
            </a:pPr>
            <a:r>
              <a:t>•  Deal mix - Acquisition (13), Investment (3), Divestiture (2), Funding round (2)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4E79"/>
                </a:solidFill>
              </a:defRPr>
            </a:pPr>
            <a:r>
              <a:t>1. Mars strikes $36bn deal to buy Pringles maker Kellanova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666666"/>
                </a:solidFill>
              </a:defRPr>
            </a:pPr>
            <a:r>
              <a:t>Acquisition • $36 billion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468880"/>
            <a:ext cx="10698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t>Mars has agreed to buy Kellanova, the owner of Pringles and Cheez-It, for around $36 billion, in one of the largest packaged-food acquisitions in years as consumer giants consolidate.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852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66666"/>
                </a:solidFill>
              </a:defRPr>
            </a:pPr>
            <a:r>
              <a:t>Source: Bloomberg  |  credibility 100/100  (tier1)  |  https://www.bloomberg.com/news/articles/2026-06-19/mars-kellanova-deal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4E79"/>
                </a:solidFill>
              </a:defRPr>
            </a:pPr>
            <a:r>
              <a:t>2. PepsiCo to acquire prebiotic soda brand poppi for $1.95 billion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666666"/>
                </a:solidFill>
              </a:defRPr>
            </a:pPr>
            <a:r>
              <a:t>Acquisition • $1.95 billion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468880"/>
            <a:ext cx="10698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t>PepsiCo has agreed to acquire fast-growing prebiotic soda brand poppi for about $1.95 billion, expanding its push into functional and better-for-you beverages as consumers cut back on traditional soft drinks.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852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66666"/>
                </a:solidFill>
              </a:defRPr>
            </a:pPr>
            <a:r>
              <a:t>Source: CNBC  |  credibility 99/100  (tier1)  |  https://www.cnbc.com/2026/06/17/pepsico-poppi-acquisition.html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4E79"/>
                </a:solidFill>
              </a:defRPr>
            </a:pPr>
            <a:r>
              <a:t>3. Keurig Dr Pepper acquires energy drink maker in $1 billion deal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666666"/>
                </a:solidFill>
              </a:defRPr>
            </a:pPr>
            <a:r>
              <a:t>Acquisition • $1 billion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468880"/>
            <a:ext cx="10698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t>Keurig Dr Pepper has agreed to acquire a fast-growing energy drink brand for about $1 billion, expanding its presence in the booming energy category alongside its coffee and soft-drink portfolio.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852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66666"/>
                </a:solidFill>
              </a:defRPr>
            </a:pPr>
            <a:r>
              <a:t>Source: Food Dive  |  credibility 85/100  (tier2)  |  https://www.fooddive.com/news/keurig-dr-pepper-energy-drink-acquisition/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4E79"/>
                </a:solidFill>
              </a:defRPr>
            </a:pPr>
            <a:r>
              <a:t>4. Beauty conglomerate acquires haircare brand to strengthen professional division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666666"/>
                </a:solidFill>
              </a:defRPr>
            </a:pPr>
            <a:r>
              <a:t>Acquisition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468880"/>
            <a:ext cx="10698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t>A global beauty conglomerate has acquired a fast-growing professional haircare brand, strengthening its salon and professional division amid rising demand for premium hair products.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852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66666"/>
                </a:solidFill>
              </a:defRPr>
            </a:pPr>
            <a:r>
              <a:t>Source: Cosmetics Business  |  credibility 85/100  (tier2)  |  https://www.cosmeticsbusiness.com/news/beauty-haircare-acquisition-2026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4E79"/>
                </a:solidFill>
              </a:defRPr>
            </a:pPr>
            <a:r>
              <a:t>5. L'Oreal acquires premium skincare brand to expand dermatological beauty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666666"/>
                </a:solidFill>
              </a:defRPr>
            </a:pPr>
            <a:r>
              <a:t>Acquisition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468880"/>
            <a:ext cx="10698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t>L'Oreal has agreed to acquire a premium skincare brand, adding to its active cosmetics division as the beauty group invests in science-backed dermatological products and premiumisation.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852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66666"/>
                </a:solidFill>
              </a:defRPr>
            </a:pPr>
            <a:r>
              <a:t>Source: CosmeticsDesign  |  credibility 85/100  (tier2)  |  https://www.cosmeticsdesign.com/Article/2026/06/12/loreal-skincare-acquisition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F4E79"/>
                </a:solidFill>
              </a:defRPr>
            </a:pPr>
            <a:r>
              <a:t>6. Nestle divests underperforming frozen food unit to focus on coffee and pet care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666666"/>
                </a:solidFill>
              </a:defRPr>
            </a:pPr>
            <a:r>
              <a:t>Divestiture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468880"/>
            <a:ext cx="10698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t>Nestle has agreed to divest an underperforming frozen food business as the world's largest food company sharpens its portfolio around higher-growth coffee, pet care and nutrition brands.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852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666666"/>
                </a:solidFill>
              </a:defRPr>
            </a:pPr>
            <a:r>
              <a:t>Source: Reuters  |  credibility 95/100  (tier1)  |  https://www.reuters.com/markets/deals/nestle-frozen-food-divestiture-2026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4E79"/>
                </a:solidFill>
              </a:defRPr>
            </a:pPr>
            <a:r>
              <a:t>Methodology &amp; assumptions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defRPr sz="1200">
                <a:solidFill>
                  <a:srgbClr val="666666"/>
                </a:solidFill>
              </a:defRPr>
            </a:pPr>
            <a:r>
              <a:t>•  Ingestion: public RSS/Atom feeds (Google News + FMCG trade press), last 14 days.</a:t>
            </a:r>
          </a:p>
          <a:p>
            <a:pPr>
              <a:defRPr sz="1200">
                <a:solidFill>
                  <a:srgbClr val="666666"/>
                </a:solidFill>
              </a:defRPr>
            </a:pPr>
            <a:r>
              <a:t>•  De-duplication: exact URL/title match, then near-dup clustering by entity overlap (threshold 0.5). 5 of 30 articles merged.</a:t>
            </a:r>
          </a:p>
          <a:p>
            <a:pPr>
              <a:defRPr sz="1200">
                <a:solidFill>
                  <a:srgbClr val="666666"/>
                </a:solidFill>
              </a:defRPr>
            </a:pPr>
            <a:r>
              <a:t>•  Relevance: requires a deal signal AND an FMCG signal (title ×2). Items below 35/100 are dropped.</a:t>
            </a:r>
          </a:p>
          <a:p>
            <a:pPr>
              <a:defRPr sz="1200">
                <a:solidFill>
                  <a:srgbClr val="666666"/>
                </a:solidFill>
              </a:defRPr>
            </a:pPr>
            <a:r>
              <a:t>•  Credibility: source-tier allow-list + corroboration bonus − lone press-release penalty.</a:t>
            </a:r>
          </a:p>
          <a:p>
            <a:pPr>
              <a:defRPr sz="1200">
                <a:solidFill>
                  <a:srgbClr val="666666"/>
                </a:solidFill>
              </a:defRPr>
            </a:pPr>
            <a:r>
              <a:t>•  Ranking: relevance 45%, credibility 30%, recency 15%, corroboration 10%.</a:t>
            </a:r>
          </a:p>
          <a:p>
            <a:pPr>
              <a:defRPr sz="1200">
                <a:solidFill>
                  <a:srgbClr val="666666"/>
                </a:solidFill>
              </a:defRPr>
            </a:pPr>
            <a:r>
              <a:t>•  Summaries: template from extracted deal facts + source blurb (no LLM_API_KEY set).</a:t>
            </a:r>
          </a:p>
          <a:p>
            <a:pPr>
              <a:defRPr sz="1200">
                <a:solidFill>
                  <a:srgbClr val="666666"/>
                </a:solidFill>
              </a:defRPr>
            </a:pPr>
            <a:r>
              <a:t>•  Deal value/parties are regex heuristics and may be incomplete. Decision-support only.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